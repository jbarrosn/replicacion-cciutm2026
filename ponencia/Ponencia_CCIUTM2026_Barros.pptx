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1" r:id="rId22"/>
    <p:sldId id="258" r:id="rId4"/>
    <p:sldId id="270" r:id="rId21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2" y="-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4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F2933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1F2933"/>
                </a:solidFill>
                <a:latin typeface="+mj-lt"/>
              </a:rPr>
              <a:t>Zonas de Planificación distintas por comunidad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Zonas distintas</c:v>
                </c:pt>
              </c:strCache>
            </c:strRef>
          </c:tx>
          <c:spPr>
            <a:solidFill>
              <a:srgbClr val="66C2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757-4E27-92BC-4570DA5EA01D}"/>
              </c:ext>
            </c:extLst>
          </c:dPt>
          <c:dPt>
            <c:idx val="1"/>
            <c:invertIfNegative val="0"/>
            <c:bubble3D val="0"/>
            <c:spPr>
              <a:solidFill>
                <a:srgbClr val="FC8D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57-4E27-92BC-4570DA5EA01D}"/>
              </c:ext>
            </c:extLst>
          </c:dPt>
          <c:dPt>
            <c:idx val="2"/>
            <c:invertIfNegative val="0"/>
            <c:bubble3D val="0"/>
            <c:spPr>
              <a:solidFill>
                <a:srgbClr val="8DA0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757-4E27-92BC-4570DA5EA01D}"/>
              </c:ext>
            </c:extLst>
          </c:dPt>
          <c:dPt>
            <c:idx val="3"/>
            <c:invertIfNegative val="0"/>
            <c:bubble3D val="0"/>
            <c:spPr>
              <a:solidFill>
                <a:srgbClr val="A6D8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757-4E27-92BC-4570DA5EA0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Comunidad 1</c:v>
                </c:pt>
                <c:pt idx="1">
                  <c:v>Comunidad 2</c:v>
                </c:pt>
                <c:pt idx="2">
                  <c:v>Comunidad 3</c:v>
                </c:pt>
                <c:pt idx="3">
                  <c:v>Comunidad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757-4E27-92BC-4570DA5EA0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670"/>
                    </a:solidFill>
                    <a:latin typeface="+mn-lt"/>
                  </a:rPr>
                  <a:t>N.º de zonas (de 9)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+mj-lt"/>
              </a:rPr>
              <a:t>Modularidad Q según el percentil umbral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Modularidad Q</c:v>
                </c:pt>
              </c:strCache>
            </c:strRef>
          </c:tx>
          <c:spPr>
            <a:solidFill>
              <a:srgbClr val="1A985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0.60</c:v>
                </c:pt>
                <c:pt idx="1">
                  <c:v>0.65</c:v>
                </c:pt>
                <c:pt idx="2">
                  <c:v>0.70</c:v>
                </c:pt>
                <c:pt idx="3">
                  <c:v>0.75</c:v>
                </c:pt>
                <c:pt idx="4">
                  <c:v>0.80</c:v>
                </c:pt>
                <c:pt idx="5">
                  <c:v>0.85</c:v>
                </c:pt>
                <c:pt idx="6">
                  <c:v>0.90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0.372</c:v>
                </c:pt>
                <c:pt idx="1">
                  <c:v>0.38200000000000001</c:v>
                </c:pt>
                <c:pt idx="2">
                  <c:v>0.41199999999999998</c:v>
                </c:pt>
                <c:pt idx="3">
                  <c:v>0.44600000000000001</c:v>
                </c:pt>
                <c:pt idx="4">
                  <c:v>0.47699999999999998</c:v>
                </c:pt>
                <c:pt idx="5">
                  <c:v>0.55300000000000005</c:v>
                </c:pt>
                <c:pt idx="6">
                  <c:v>0.629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A1-49DF-B338-7C600D7BEA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0"/>
                    </a:solidFill>
                    <a:latin typeface="+mn-lt"/>
                  </a:rPr>
                  <a:t>Percentil umbral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93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y presentación de los autores. Esta ponencia presenta un método matemático y estadístico (grafo de similitud, estandarización y detección de comunidades) validado con datos de abandono escolar de las 24 provincias del Ecuador.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tabla de tasas ordena por un solo número. Al colorear cada provincia con la comunidad que detecta el grafo, se ve que posiciones consecutivas del ranking pertenecen a grupos distintos. El método que se presenta no es un diagnóstico social: el abandono escolar solo valida el procedimiento.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video completo. Idea central: el grafo no impone los grupos; las comunidades emergen de la estructura de similitudes. En este ejemplo hay dos grupos unidos por una única arista débil.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pasos reproducibles. Cada paso corresponde a una ecuación numerada que se desarrolla en las siguientes diapositivas. Los datos son registros administrativos AMIE 2024-2025 y el VAB per cápita del Banco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provincias comparten la misma curva nacional de abandono por grado (baja en básica, salto en el primer año de Bachillerato). Sin estandarizar, el grafo sale completo y colapsa a una sola comunidad. La ecuación (1) se aplica por columna: cada grado se centra y reescala.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similitud (2) existe para los 276 pares de provincias, lo que daría un grafo completo y sin señal. La ecuación (3) conserva solo el 25% de pares más similares. Se evaluó la sensibilidad de p entre 0.60 y 0.90 más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modularidad compara el peso de aristas dentro de cada comunidad con lo esperado por azar dado el grado de cada nodo. En el video, Q parte de −0.050 (cada nodo es su propia comunidad) y alcanza 0.446 con cuatro comunidades. Se usó igraph con semilla fija para reproducibilidad.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comunidades con modularidad 0.446, lo que indica estructura genuina y no un artefacto. Cotopaxi no entra al grafo en el umbral 0.75 y reingresa con la segunda capa.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de validez indirecta: si el método detectara solo ruido no habría un patrón interpretable, y si repitiera la zonificación oficial cada comunidad coincidiría con una zona. En los datos, las comunidades abarcan entre 3 y 5 Zonas de Planificación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endurecer el umbral quedan menos aristas pero más fuertes, por eso Q crece de 0.372 a 0.629. El número de comunidades se estabiliza en cuatro desde el percentil 0.65. Las provincias frontera quedan aisladas o cambian de comunidad: es un resultado sustantivo que pide análisis cualitativo.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segunda capa incorpora dos variables estandarizadas: ratio estudiante/docente y VAB per cápita 2023. La correlación de 0.553 entre las matrices de similitud muestra que agregar contexto modifica de forma no trivial las vecindades. Cotopaxi reingresa al grafo.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Conviene ser explícitos con los límites de la inferencia: el resultado es una diferencia estructural observada, no una atribución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valor está en el procedimiento reproducible. Como línea futura, un modelo multinivel permitiría cuantificar cuánta varianza del abandono explica la Zona de Planificación frente a características propias de cada provincia.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Agradecimiento y espacio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del método, de dónde salen los datos. A la izquierda, el territorio tal como lo organiza el Estado: 9 Zonas de Planificación. Pregunta al público: ¿el abandono respetará estas fronteras? A la derecha, las tres fuentes y el recorrido de los datos: cada institución del AMIE reporta matrícula y abandono por grado; se suman por provincia y grado y se calcula la tasa con la ecuación (0); eso da una matriz de 24 provincias por 15 grados. La banda de 1.º de Bachillerato es el salto que comparten todas las provincias y que la estandarización eliminará. Cada fila, por ejemplo Manabí, es el perfil de una provincia y se convierte en un nodo del grafo.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mostrar la intuición, la definición. Un grafo es un objeto matemático: un par G = (V, E), un conjunto de vértices y un conjunto de aristas, que son pares de vértices. Si cada arista lleva un peso, el grafo es ponderado, y todo se puede escribir como una matriz de adyacencia A. En el ejemplo, a, b y c están muy conectados y d, e cuelgan de una arista débil: eso es lo que luego llamaremos comunidad. En la ponencia, los vértices son provincias y el peso es la similitud entre sus perfiles. La teoría de grafos nace con Euler en 1736, con los puentes de Königsberg.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iversidad Técnica de Manab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"/>
            <a:ext cx="1546769" cy="566928"/>
          </a:xfrm>
          <a:prstGeom prst="rect">
            <a:avLst/>
          </a:prstGeom>
        </p:spPr>
      </p:pic>
      <p:pic>
        <p:nvPicPr>
          <p:cNvPr id="3" name="Image 1" descr="CCIUTM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01752"/>
            <a:ext cx="1336914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IX Congreso Internacional de Ciencias Básicas · CCIUTM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14DF9A2-D387-DBBA-9039-079FA0942B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5926" y="2893653"/>
            <a:ext cx="2492148" cy="50280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4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microsoft.com/office/2007/relationships/media" Target="../media/media3.mp4"/><Relationship Id="rId2" Type="http://schemas.openxmlformats.org/officeDocument/2006/relationships/video" Target="../media/media3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microsoft.com/office/2007/relationships/media" Target="../media/media4.mp4"/><Relationship Id="rId2" Type="http://schemas.openxmlformats.org/officeDocument/2006/relationships/video" Target="../media/media4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microsoft.com/office/2007/relationships/media" Target="../media/media5.mp4"/><Relationship Id="rId2" Type="http://schemas.openxmlformats.org/officeDocument/2006/relationships/video" Target="../media/media5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21.png"/><Relationship Id="rId6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d de 23 provincias del Ecuador coloreada por comunidad estructur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75" y="0"/>
            <a:ext cx="5303520" cy="6858000"/>
          </a:xfrm>
          <a:prstGeom prst="rect">
            <a:avLst/>
          </a:prstGeom>
        </p:spPr>
      </p:pic>
      <p:sp>
        <p:nvSpPr>
          <p:cNvPr id="3" name="Placa logos"/>
          <p:cNvSpPr/>
          <p:nvPr/>
        </p:nvSpPr>
        <p:spPr>
          <a:xfrm>
            <a:off x="548640" y="365760"/>
            <a:ext cx="46634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4" name="Image 1" descr="Universidad Técnica de Manabí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5488"/>
            <a:ext cx="1896039" cy="694944"/>
          </a:xfrm>
          <a:prstGeom prst="rect">
            <a:avLst/>
          </a:prstGeom>
        </p:spPr>
      </p:pic>
      <p:pic>
        <p:nvPicPr>
          <p:cNvPr id="5" name="Image 2" descr="CCIUTM 20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548640"/>
            <a:ext cx="1542593" cy="548640"/>
          </a:xfrm>
          <a:prstGeom prst="rect">
            <a:avLst/>
          </a:prstGeom>
        </p:spPr>
      </p:pic>
      <p:sp>
        <p:nvSpPr>
          <p:cNvPr id="6" name="Título"/>
          <p:cNvSpPr txBox="1"/>
          <p:nvPr/>
        </p:nvSpPr>
        <p:spPr>
          <a:xfrm>
            <a:off x="548640" y="160020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Teoría de grafos y algoritmo de Louvain para la detección de comunidades estructurales</a:t>
            </a:r>
            <a:endParaRPr lang="en-US" sz="36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40690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FE8D5"/>
                </a:solidFill>
              </a:rPr>
              <a:t>Aplicación al abandono escolar por provincia en Ecuador</a:t>
            </a:r>
            <a:endParaRPr lang="en-US" sz="22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9377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Jhon Ronald Barros Naranjo, MSc. · Dimas Geovanny Vera Pisco</a:t>
            </a: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5321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</a:rPr>
              <a:t>Universidad Técnica de Manabí (UTM), Ecuador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9436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</a:rPr>
              <a:t>IX Congreso Internacional de Ciencias Básicas (CCIUTM) · 20–22 de octubre de 2026</a:t>
            </a:r>
            <a:endParaRPr lang="en-US" sz="1400" dirty="0"/>
          </a:p>
        </p:txBody>
      </p:sp>
      <p:sp>
        <p:nvSpPr>
          <p:cNvPr id="11" name="QR tarjeta portada"/>
          <p:cNvSpPr/>
          <p:nvPr/>
        </p:nvSpPr>
        <p:spPr>
          <a:xfrm>
            <a:off x="10789920" y="5074920"/>
            <a:ext cx="11887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QR portada" descr="qr_materia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072" y="5120640"/>
            <a:ext cx="1042415" cy="1042415"/>
          </a:xfrm>
          <a:prstGeom prst="rect">
            <a:avLst/>
          </a:prstGeom>
        </p:spPr>
      </p:pic>
      <p:sp>
        <p:nvSpPr>
          <p:cNvPr id="13" name="QR texto portada"/>
          <p:cNvSpPr txBox="1"/>
          <p:nvPr/>
        </p:nvSpPr>
        <p:spPr>
          <a:xfrm>
            <a:off x="10789920" y="6217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4F2E"/>
                </a:solidFill>
              </a:rPr>
              <a:t>Materiales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¿Qué puede ver un grafo que una tabla no puede?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Tabla: ocho posiciones consecutivas del ranking de abandono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521208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Provincia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Tasa de abandono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Comunidad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Azuay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1.22 %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C2A5"/>
                          </a:solidFill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Carchi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1.24 %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8DA0CB"/>
                          </a:solidFill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Manabí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1.34 %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C8D62"/>
                          </a:solidFill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Cañar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1.45 %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C2A5"/>
                          </a:solidFill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Tungurahua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1.55 %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6D854"/>
                          </a:solidFill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Zamora Ch.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1.59 %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C8D62"/>
                          </a:solidFill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Chimborazo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1.77 %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6D854"/>
                          </a:solidFill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Sto. Domingo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1.84 %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C2A5"/>
                          </a:solidFill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Grafo: las mismas provincias, agrupadas por la forma de su perfil</a:t>
            </a:r>
            <a:endParaRPr lang="en-US" sz="1600" dirty="0"/>
          </a:p>
        </p:txBody>
      </p:sp>
      <p:pic>
        <p:nvPicPr>
          <p:cNvPr id="6" name="Image 0" descr="Grafo de similitud de las provincias coloreado por comunid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40280"/>
            <a:ext cx="5394960" cy="3599574"/>
          </a:xfrm>
          <a:prstGeom prst="rect">
            <a:avLst/>
          </a:prstGeom>
        </p:spPr>
      </p:pic>
      <p:sp>
        <p:nvSpPr>
          <p:cNvPr id="7" name="Mensaje clave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Provincias vecinas en el ranking pertenecen a comunidades distintas: la tabla compara valores, el grafo compara relaciones.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La intuición: nodos, aristas y comunidades</a:t>
            </a:r>
            <a:endParaRPr lang="en-US" sz="3000" dirty="0"/>
          </a:p>
        </p:txBody>
      </p:sp>
      <p:pic>
        <p:nvPicPr>
          <p:cNvPr id="3" name="Video intuic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874520"/>
            <a:ext cx="6309360" cy="35490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14975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670"/>
                </a:solidFill>
              </a:rPr>
              <a:t>Video: cada unidad tiene un perfil; las aristas conectan perfiles parecidos y los nodos se agrupan.</a:t>
            </a:r>
            <a:endParaRPr lang="en-US" sz="1200" dirty="0"/>
          </a:p>
        </p:txBody>
      </p:sp>
      <p:sp>
        <p:nvSpPr>
          <p:cNvPr id="5" name="Tarjeta Nodo"/>
          <p:cNvSpPr/>
          <p:nvPr/>
        </p:nvSpPr>
        <p:spPr>
          <a:xfrm>
            <a:off x="7223760" y="1874520"/>
            <a:ext cx="43891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Nodo fondo"/>
          <p:cNvSpPr/>
          <p:nvPr/>
        </p:nvSpPr>
        <p:spPr>
          <a:xfrm>
            <a:off x="7406640" y="21945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Nod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7516" y="234543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7532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Nodo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2423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Una unidad: provincia, persona, empresa.</a:t>
            </a:r>
            <a:endParaRPr lang="en-US" sz="1400" dirty="0"/>
          </a:p>
        </p:txBody>
      </p:sp>
      <p:sp>
        <p:nvSpPr>
          <p:cNvPr id="10" name="Tarjeta Arista"/>
          <p:cNvSpPr/>
          <p:nvPr/>
        </p:nvSpPr>
        <p:spPr>
          <a:xfrm>
            <a:off x="7223760" y="3355848"/>
            <a:ext cx="43891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rista fondo"/>
          <p:cNvSpPr/>
          <p:nvPr/>
        </p:nvSpPr>
        <p:spPr>
          <a:xfrm>
            <a:off x="7406640" y="3675888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Arist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516" y="382676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75320" y="3493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Arista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275320" y="39044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Qué tan parecidas son dos unidades entre sí.</a:t>
            </a:r>
            <a:endParaRPr lang="en-US" sz="1400" dirty="0"/>
          </a:p>
        </p:txBody>
      </p:sp>
      <p:sp>
        <p:nvSpPr>
          <p:cNvPr id="15" name="Tarjeta Comunidad"/>
          <p:cNvSpPr/>
          <p:nvPr/>
        </p:nvSpPr>
        <p:spPr>
          <a:xfrm>
            <a:off x="7223760" y="4837176"/>
            <a:ext cx="43891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Comunidad fondo"/>
          <p:cNvSpPr/>
          <p:nvPr/>
        </p:nvSpPr>
        <p:spPr>
          <a:xfrm>
            <a:off x="7406640" y="5157216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Comunida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7516" y="530809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75320" y="49743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Comunidad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8275320" y="538581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Grupo denso que emerge de los datos, sin una clasificación previa.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900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Los datos: de 16 186 instituciones a una matriz de 24 × 15</a:t>
            </a:r>
            <a:endParaRPr lang="en-US" sz="3000" dirty="0"/>
          </a:p>
        </p:txBody>
      </p:sp>
      <p:sp>
        <p:nvSpPr>
          <p:cNvPr id="902" name="Tarjeta territorio"/>
          <p:cNvSpPr/>
          <p:nvPr/>
        </p:nvSpPr>
        <p:spPr>
          <a:xfrm>
            <a:off x="548640" y="1783080"/>
            <a:ext cx="4343400" cy="434340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rritorio titulo"/>
          <p:cNvSpPr txBox="1"/>
          <p:nvPr/>
        </p:nvSpPr>
        <p:spPr>
          <a:xfrm>
            <a:off x="731520" y="1901952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4F2E"/>
                </a:solidFill>
              </a:rPr>
              <a:t>Territorio: 9 Zonas de Planificación</a:t>
            </a:r>
          </a:p>
        </p:txBody>
      </p:sp>
      <p:pic>
        <p:nvPicPr>
          <p:cNvPr id="904" name="Mapa zonas" descr="mapa_zonas_planif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3794760" cy="3337560"/>
          </a:xfrm>
          <a:prstGeom prst="rect">
            <a:avLst/>
          </a:prstGeom>
        </p:spPr>
      </p:pic>
      <p:sp>
        <p:nvSpPr>
          <p:cNvPr id="905" name="Pregunta mapa"/>
          <p:cNvSpPr txBox="1"/>
          <p:nvPr/>
        </p:nvSpPr>
        <p:spPr>
          <a:xfrm>
            <a:off x="731520" y="5742432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0B6B3A"/>
                </a:solidFill>
              </a:rPr>
              <a:t>¿Respeta el abandono estas fronteras?</a:t>
            </a:r>
          </a:p>
        </p:txBody>
      </p:sp>
      <p:sp>
        <p:nvSpPr>
          <p:cNvPr id="906" name="Fuente 1"/>
          <p:cNvSpPr/>
          <p:nvPr/>
        </p:nvSpPr>
        <p:spPr>
          <a:xfrm>
            <a:off x="5120640" y="1783080"/>
            <a:ext cx="2011680" cy="123444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uente 1 cifra"/>
          <p:cNvSpPr txBox="1"/>
          <p:nvPr/>
        </p:nvSpPr>
        <p:spPr>
          <a:xfrm>
            <a:off x="5257800" y="184708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6B3A"/>
                </a:solidFill>
              </a:rPr>
              <a:t>16 186</a:t>
            </a:r>
          </a:p>
        </p:txBody>
      </p:sp>
      <p:sp>
        <p:nvSpPr>
          <p:cNvPr id="908" name="Fuente 1 texto"/>
          <p:cNvSpPr txBox="1"/>
          <p:nvPr/>
        </p:nvSpPr>
        <p:spPr>
          <a:xfrm>
            <a:off x="5257800" y="2359152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</a:rPr>
              <a:t>instituciones · AMIE Fin</a:t>
            </a:r>
          </a:p>
          <a:p>
            <a:pPr algn="l"/>
            <a:r>
              <a:rPr sz="1100" b="0" i="0">
                <a:solidFill>
                  <a:srgbClr val="5B6670"/>
                </a:solidFill>
              </a:rPr>
              <a:t>abandono y matrícula por grado y sexo</a:t>
            </a:r>
          </a:p>
        </p:txBody>
      </p:sp>
      <p:sp>
        <p:nvSpPr>
          <p:cNvPr id="909" name="Fuente 2"/>
          <p:cNvSpPr/>
          <p:nvPr/>
        </p:nvSpPr>
        <p:spPr>
          <a:xfrm>
            <a:off x="7360920" y="1783080"/>
            <a:ext cx="2011680" cy="123444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uente 2 cifra"/>
          <p:cNvSpPr txBox="1"/>
          <p:nvPr/>
        </p:nvSpPr>
        <p:spPr>
          <a:xfrm>
            <a:off x="7498080" y="184708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6B3A"/>
                </a:solidFill>
              </a:rPr>
              <a:t>16 215</a:t>
            </a:r>
          </a:p>
        </p:txBody>
      </p:sp>
      <p:sp>
        <p:nvSpPr>
          <p:cNvPr id="911" name="Fuente 2 texto"/>
          <p:cNvSpPr txBox="1"/>
          <p:nvPr/>
        </p:nvSpPr>
        <p:spPr>
          <a:xfrm>
            <a:off x="7498080" y="2359152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</a:rPr>
              <a:t>instituciones · AMIE Inicio</a:t>
            </a:r>
          </a:p>
          <a:p>
            <a:pPr algn="l"/>
            <a:r>
              <a:rPr sz="1100" b="0" i="0">
                <a:solidFill>
                  <a:srgbClr val="5B6670"/>
                </a:solidFill>
              </a:rPr>
              <a:t>matrícula al inicio del año lectivo</a:t>
            </a:r>
          </a:p>
        </p:txBody>
      </p:sp>
      <p:sp>
        <p:nvSpPr>
          <p:cNvPr id="912" name="Fuente 3"/>
          <p:cNvSpPr/>
          <p:nvPr/>
        </p:nvSpPr>
        <p:spPr>
          <a:xfrm>
            <a:off x="9601200" y="1783080"/>
            <a:ext cx="2011680" cy="123444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uente 3 cifra"/>
          <p:cNvSpPr txBox="1"/>
          <p:nvPr/>
        </p:nvSpPr>
        <p:spPr>
          <a:xfrm>
            <a:off x="9738360" y="184708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6B3A"/>
                </a:solidFill>
              </a:rPr>
              <a:t>24</a:t>
            </a:r>
          </a:p>
        </p:txBody>
      </p:sp>
      <p:sp>
        <p:nvSpPr>
          <p:cNvPr id="914" name="Fuente 3 texto"/>
          <p:cNvSpPr txBox="1"/>
          <p:nvPr/>
        </p:nvSpPr>
        <p:spPr>
          <a:xfrm>
            <a:off x="9738360" y="2359152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</a:rPr>
              <a:t>provincias · BCE</a:t>
            </a:r>
          </a:p>
          <a:p>
            <a:pPr algn="l"/>
            <a:r>
              <a:rPr sz="1100" b="0" i="0">
                <a:solidFill>
                  <a:srgbClr val="5B6670"/>
                </a:solidFill>
              </a:rPr>
              <a:t>VAB per cápita 2018-2023</a:t>
            </a:r>
          </a:p>
        </p:txBody>
      </p:sp>
      <p:sp>
        <p:nvSpPr>
          <p:cNvPr id="915" name="Tarjeta esquema"/>
          <p:cNvSpPr/>
          <p:nvPr/>
        </p:nvSpPr>
        <p:spPr>
          <a:xfrm>
            <a:off x="5120640" y="3200400"/>
            <a:ext cx="6492240" cy="29260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6" name="Esquema registro a nodo" descr="esquema_registro_a_no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291840"/>
            <a:ext cx="6309360" cy="2743200"/>
          </a:xfrm>
          <a:prstGeom prst="rect">
            <a:avLst/>
          </a:prstGeom>
        </p:spPr>
      </p:pic>
      <p:sp>
        <p:nvSpPr>
          <p:cNvPr id="917" name="Fuentes"/>
          <p:cNvSpPr txBox="1"/>
          <p:nvPr/>
        </p:nvSpPr>
        <p:spPr>
          <a:xfrm>
            <a:off x="548640" y="619963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70"/>
                </a:solidFill>
              </a:rPr>
              <a:t>Fuentes: MINEDEC, AMIE 2024-2025 (Inicio y Fin); BCE, Cuentas Regionales; cartografía INEC. *Z8 y Z9: cantones urbanos de Guayas y Pichincha.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Del dato al grafo: el método en cinco pasos</a:t>
            </a:r>
            <a:endParaRPr lang="en-US" sz="3000" dirty="0"/>
          </a:p>
        </p:txBody>
      </p:sp>
      <p:sp>
        <p:nvSpPr>
          <p:cNvPr id="3" name="Paso 1"/>
          <p:cNvSpPr/>
          <p:nvPr/>
        </p:nvSpPr>
        <p:spPr>
          <a:xfrm>
            <a:off x="548640" y="1828800"/>
            <a:ext cx="2103120" cy="26974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Datos fondo"/>
          <p:cNvSpPr/>
          <p:nvPr/>
        </p:nvSpPr>
        <p:spPr>
          <a:xfrm>
            <a:off x="731520" y="2011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Da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1625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Tasa de abandono por provincia y grado: matriz de 24 × 15.</a:t>
            </a:r>
            <a:endParaRPr lang="en-US" sz="1400" dirty="0"/>
          </a:p>
        </p:txBody>
      </p:sp>
      <p:sp>
        <p:nvSpPr>
          <p:cNvPr id="9" name="Paso 2"/>
          <p:cNvSpPr/>
          <p:nvPr/>
        </p:nvSpPr>
        <p:spPr>
          <a:xfrm>
            <a:off x="2788920" y="1828800"/>
            <a:ext cx="2103120" cy="26974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Estandarizar fondo"/>
          <p:cNvSpPr/>
          <p:nvPr/>
        </p:nvSpPr>
        <p:spPr>
          <a:xfrm>
            <a:off x="2971800" y="2011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Estandariz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676" y="21625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297180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Estandarizar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32004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Puntuación z por grado: elimina la curva nacional compartida. Ecuación (1).</a:t>
            </a:r>
            <a:endParaRPr lang="en-US" sz="1400" dirty="0"/>
          </a:p>
        </p:txBody>
      </p:sp>
      <p:sp>
        <p:nvSpPr>
          <p:cNvPr id="15" name="Paso 3"/>
          <p:cNvSpPr/>
          <p:nvPr/>
        </p:nvSpPr>
        <p:spPr>
          <a:xfrm>
            <a:off x="5029200" y="1828800"/>
            <a:ext cx="2103120" cy="26974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Similitud fondo"/>
          <p:cNvSpPr/>
          <p:nvPr/>
        </p:nvSpPr>
        <p:spPr>
          <a:xfrm>
            <a:off x="5212080" y="2011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Similitu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56" y="21625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Similitud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32004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Correlación de Pearson entre perfiles estandarizados. Ecuación (2).</a:t>
            </a:r>
            <a:endParaRPr lang="en-US" sz="1400" dirty="0"/>
          </a:p>
        </p:txBody>
      </p:sp>
      <p:sp>
        <p:nvSpPr>
          <p:cNvPr id="21" name="Paso 4"/>
          <p:cNvSpPr/>
          <p:nvPr/>
        </p:nvSpPr>
        <p:spPr>
          <a:xfrm>
            <a:off x="7269480" y="1828800"/>
            <a:ext cx="2103120" cy="26974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2" name="Umbral fondo"/>
          <p:cNvSpPr/>
          <p:nvPr/>
        </p:nvSpPr>
        <p:spPr>
          <a:xfrm>
            <a:off x="7452360" y="2011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3" descr="Umbr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3236" y="216255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2396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745236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Umbral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452360" y="32004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Se conserva el percentil 75 de similitud como arista. Ecuación (3).</a:t>
            </a:r>
            <a:endParaRPr lang="en-US" sz="1400" dirty="0"/>
          </a:p>
        </p:txBody>
      </p:sp>
      <p:sp>
        <p:nvSpPr>
          <p:cNvPr id="27" name="Paso 5"/>
          <p:cNvSpPr/>
          <p:nvPr/>
        </p:nvSpPr>
        <p:spPr>
          <a:xfrm>
            <a:off x="9509760" y="1828800"/>
            <a:ext cx="2103120" cy="26974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8" name="Comunidades fondo"/>
          <p:cNvSpPr/>
          <p:nvPr/>
        </p:nvSpPr>
        <p:spPr>
          <a:xfrm>
            <a:off x="9692640" y="2011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4" descr="Comunidad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3516" y="2162556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0642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969264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Comunidades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692640" y="32004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Louvain maximiza la modularidad Q. Ecuación (4).</a:t>
            </a:r>
            <a:endParaRPr lang="en-US" sz="1400" dirty="0"/>
          </a:p>
        </p:txBody>
      </p:sp>
      <p:sp>
        <p:nvSpPr>
          <p:cNvPr id="33" name="Dato provincias (nodos)"/>
          <p:cNvSpPr/>
          <p:nvPr/>
        </p:nvSpPr>
        <p:spPr>
          <a:xfrm>
            <a:off x="548640" y="475488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48640" y="4864608"/>
            <a:ext cx="26517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24</a:t>
            </a:r>
            <a:endParaRPr lang="en-US" sz="4000" dirty="0"/>
          </a:p>
        </p:txBody>
      </p:sp>
      <p:sp>
        <p:nvSpPr>
          <p:cNvPr id="35" name="Text 28"/>
          <p:cNvSpPr txBox="1"/>
          <p:nvPr/>
        </p:nvSpPr>
        <p:spPr>
          <a:xfrm>
            <a:off x="640080" y="5523890"/>
            <a:ext cx="24688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</a:rPr>
              <a:t>provincias (nodos)</a:t>
            </a:r>
            <a:endParaRPr lang="en-US" sz="1400" dirty="0"/>
          </a:p>
        </p:txBody>
      </p:sp>
      <p:sp>
        <p:nvSpPr>
          <p:cNvPr id="36" name="Dato grados regulares, de Inicial a 3.º Bachillerato"/>
          <p:cNvSpPr/>
          <p:nvPr/>
        </p:nvSpPr>
        <p:spPr>
          <a:xfrm>
            <a:off x="3355848" y="475488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3355848" y="4864608"/>
            <a:ext cx="26517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15</a:t>
            </a:r>
            <a:endParaRPr lang="en-US" sz="4000" dirty="0"/>
          </a:p>
        </p:txBody>
      </p:sp>
      <p:sp>
        <p:nvSpPr>
          <p:cNvPr id="38" name="Text 31"/>
          <p:cNvSpPr txBox="1"/>
          <p:nvPr/>
        </p:nvSpPr>
        <p:spPr>
          <a:xfrm>
            <a:off x="3447288" y="5523890"/>
            <a:ext cx="24688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</a:rPr>
              <a:t>grados regulares, de Inicial a 3.º Bachillerato</a:t>
            </a:r>
            <a:endParaRPr lang="en-US" sz="1400" dirty="0"/>
          </a:p>
        </p:txBody>
      </p:sp>
      <p:sp>
        <p:nvSpPr>
          <p:cNvPr id="39" name="Dato instituciones (AMIE 2024-2025)"/>
          <p:cNvSpPr/>
          <p:nvPr/>
        </p:nvSpPr>
        <p:spPr>
          <a:xfrm>
            <a:off x="6163056" y="475488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163056" y="4864608"/>
            <a:ext cx="26517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16 186</a:t>
            </a:r>
            <a:endParaRPr lang="en-US" sz="4000" dirty="0"/>
          </a:p>
        </p:txBody>
      </p:sp>
      <p:sp>
        <p:nvSpPr>
          <p:cNvPr id="41" name="Text 34"/>
          <p:cNvSpPr txBox="1"/>
          <p:nvPr/>
        </p:nvSpPr>
        <p:spPr>
          <a:xfrm>
            <a:off x="6254496" y="5523890"/>
            <a:ext cx="24688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</a:rPr>
              <a:t>instituciones (AMIE 2024-2025)</a:t>
            </a:r>
            <a:endParaRPr lang="en-US" sz="1400" dirty="0"/>
          </a:p>
        </p:txBody>
      </p:sp>
      <p:sp>
        <p:nvSpPr>
          <p:cNvPr id="42" name="Dato variables en la segunda capa"/>
          <p:cNvSpPr/>
          <p:nvPr/>
        </p:nvSpPr>
        <p:spPr>
          <a:xfrm>
            <a:off x="8970264" y="475488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8970264" y="4864608"/>
            <a:ext cx="26517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17</a:t>
            </a:r>
            <a:endParaRPr lang="en-US" sz="4000" dirty="0"/>
          </a:p>
        </p:txBody>
      </p:sp>
      <p:sp>
        <p:nvSpPr>
          <p:cNvPr id="44" name="Text 37"/>
          <p:cNvSpPr txBox="1"/>
          <p:nvPr/>
        </p:nvSpPr>
        <p:spPr>
          <a:xfrm>
            <a:off x="9061704" y="5523890"/>
            <a:ext cx="24688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</a:rPr>
              <a:t>variables en la segunda capa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Paso 1: estandarizar para quitar la curva nacional</a:t>
            </a:r>
            <a:endParaRPr lang="en-US" sz="3000" dirty="0"/>
          </a:p>
        </p:txBody>
      </p:sp>
      <p:sp>
        <p:nvSpPr>
          <p:cNvPr id="3" name="Tarjeta Estandarización por atributo"/>
          <p:cNvSpPr/>
          <p:nvPr/>
        </p:nvSpPr>
        <p:spPr>
          <a:xfrm>
            <a:off x="548640" y="18288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938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Estandarización por atributo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983480" y="19385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(1)</a:t>
            </a:r>
            <a:endParaRPr lang="en-US" sz="1600" dirty="0"/>
          </a:p>
        </p:txBody>
      </p:sp>
      <p:pic>
        <p:nvPicPr>
          <p:cNvPr id="6" name="Image 0" descr="Ecuación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940" y="2331720"/>
            <a:ext cx="2880360" cy="25317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4954941"/>
            <a:ext cx="4937760" cy="126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donde </a:t>
            </a:r>
            <a:r>
              <a:rPr lang="en-US" sz="1400" i="1" dirty="0">
                <a:solidFill>
                  <a:srgbClr val="1F2933"/>
                </a:solidFill>
              </a:rPr>
              <a:t>z</a:t>
            </a:r>
            <a:r>
              <a:rPr lang="en-US" sz="1400" dirty="0">
                <a:solidFill>
                  <a:srgbClr val="1F2933"/>
                </a:solidFill>
              </a:rPr>
              <a:t>: valor estandarizado de la unidad </a:t>
            </a:r>
            <a:r>
              <a:rPr lang="en-US" sz="1400" i="1" dirty="0">
                <a:solidFill>
                  <a:srgbClr val="1F2933"/>
                </a:solidFill>
              </a:rPr>
              <a:t>u</a:t>
            </a:r>
            <a:r>
              <a:rPr lang="en-US" sz="1400" dirty="0">
                <a:solidFill>
                  <a:srgbClr val="1F2933"/>
                </a:solidFill>
              </a:rPr>
              <a:t> en el atributo </a:t>
            </a:r>
            <a:r>
              <a:rPr lang="en-US" sz="1400" i="1" dirty="0">
                <a:solidFill>
                  <a:srgbClr val="1F2933"/>
                </a:solidFill>
              </a:rPr>
              <a:t>j</a:t>
            </a:r>
            <a:r>
              <a:rPr lang="en-US" sz="1400" dirty="0">
                <a:solidFill>
                  <a:srgbClr val="1F2933"/>
                </a:solidFill>
              </a:rPr>
              <a:t>; </a:t>
            </a:r>
            <a:r>
              <a:rPr lang="en-US" sz="1400" i="1" dirty="0">
                <a:solidFill>
                  <a:srgbClr val="1F2933"/>
                </a:solidFill>
              </a:rPr>
              <a:t>x</a:t>
            </a:r>
            <a:r>
              <a:rPr lang="en-US" sz="1400" dirty="0">
                <a:solidFill>
                  <a:srgbClr val="1F2933"/>
                </a:solidFill>
              </a:rPr>
              <a:t>: valor observado; </a:t>
            </a:r>
            <a:r>
              <a:rPr lang="en-US" sz="1400" i="1" dirty="0">
                <a:solidFill>
                  <a:srgbClr val="1F2933"/>
                </a:solidFill>
              </a:rPr>
              <a:t>μ</a:t>
            </a:r>
            <a:r>
              <a:rPr lang="en-US" sz="1400" dirty="0">
                <a:solidFill>
                  <a:srgbClr val="1F2933"/>
                </a:solidFill>
              </a:rPr>
              <a:t> y </a:t>
            </a:r>
            <a:r>
              <a:rPr lang="en-US" sz="1400" i="1" dirty="0">
                <a:solidFill>
                  <a:srgbClr val="1F2933"/>
                </a:solidFill>
              </a:rPr>
              <a:t>σ</a:t>
            </a:r>
            <a:r>
              <a:rPr lang="en-US" sz="1400" dirty="0">
                <a:solidFill>
                  <a:srgbClr val="1F2933"/>
                </a:solidFill>
              </a:rPr>
              <a:t>: media y desviación estándar del atributo </a:t>
            </a:r>
            <a:r>
              <a:rPr lang="en-US" sz="1400" i="1" dirty="0">
                <a:solidFill>
                  <a:srgbClr val="1F2933"/>
                </a:solidFill>
              </a:rPr>
              <a:t>j</a:t>
            </a:r>
            <a:r>
              <a:rPr lang="en-US" sz="1400" dirty="0">
                <a:solidFill>
                  <a:srgbClr val="1F2933"/>
                </a:solidFill>
              </a:rPr>
              <a:t> entre las </a:t>
            </a:r>
            <a:r>
              <a:rPr lang="en-US" sz="1400" i="1" dirty="0">
                <a:solidFill>
                  <a:srgbClr val="1F2933"/>
                </a:solidFill>
              </a:rPr>
              <a:t>n</a:t>
            </a:r>
            <a:r>
              <a:rPr lang="en-US" sz="1400" dirty="0">
                <a:solidFill>
                  <a:srgbClr val="1F2933"/>
                </a:solidFill>
              </a:rPr>
              <a:t> unidades. Cada atributo queda con media 0 y varianza 1.</a:t>
            </a:r>
            <a:endParaRPr lang="en-US" sz="1400" dirty="0"/>
          </a:p>
        </p:txBody>
      </p:sp>
      <p:pic>
        <p:nvPicPr>
          <p:cNvPr id="8" name="Video estandarizac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63640" y="1828800"/>
            <a:ext cx="5349240" cy="30089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63640" y="49291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670"/>
                </a:solidFill>
              </a:rPr>
              <a:t>Video: sin estandarizar, las 24 curvas son casi idénticas; tras aplicar (1) aparecen perfiles distintos.</a:t>
            </a:r>
            <a:endParaRPr lang="en-US" sz="1200" dirty="0"/>
          </a:p>
        </p:txBody>
      </p:sp>
      <p:sp>
        <p:nvSpPr>
          <p:cNvPr id="10" name="Efecto de estandarizar"/>
          <p:cNvSpPr/>
          <p:nvPr/>
        </p:nvSpPr>
        <p:spPr>
          <a:xfrm>
            <a:off x="6263640" y="5432108"/>
            <a:ext cx="5349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46520" y="543210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Sin (1): 276 de 276 pares con </a:t>
            </a:r>
            <a:r>
              <a:rPr lang="en-US" sz="1400" i="1" dirty="0">
                <a:solidFill>
                  <a:srgbClr val="1F2933"/>
                </a:solidFill>
              </a:rPr>
              <a:t>ρ</a:t>
            </a:r>
            <a:r>
              <a:rPr lang="en-US" sz="1400" dirty="0">
                <a:solidFill>
                  <a:srgbClr val="1F2933"/>
                </a:solidFill>
              </a:rPr>
              <a:t> &gt; 0 (mediana 0.92). Con (1): mediana de </a:t>
            </a:r>
            <a:r>
              <a:rPr lang="en-US" sz="1400" i="1" dirty="0">
                <a:solidFill>
                  <a:srgbClr val="1F2933"/>
                </a:solidFill>
              </a:rPr>
              <a:t>ρ</a:t>
            </a:r>
            <a:r>
              <a:rPr lang="en-US" sz="1400" dirty="0">
                <a:solidFill>
                  <a:srgbClr val="1F2933"/>
                </a:solidFill>
              </a:rPr>
              <a:t> = −0.02 y 130 pares con </a:t>
            </a:r>
            <a:r>
              <a:rPr lang="en-US" sz="1400" i="1" dirty="0">
                <a:solidFill>
                  <a:srgbClr val="1F2933"/>
                </a:solidFill>
              </a:rPr>
              <a:t>ρ</a:t>
            </a:r>
            <a:r>
              <a:rPr lang="en-US" sz="1400" dirty="0">
                <a:solidFill>
                  <a:srgbClr val="1F2933"/>
                </a:solidFill>
              </a:rPr>
              <a:t> &gt; 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Pasos 2 y 3: similitud entre pares y umbral</a:t>
            </a:r>
            <a:endParaRPr lang="en-US" sz="3000" dirty="0"/>
          </a:p>
        </p:txBody>
      </p:sp>
      <p:sp>
        <p:nvSpPr>
          <p:cNvPr id="3" name="Tarjeta Similitud (correlación de Pearson)"/>
          <p:cNvSpPr/>
          <p:nvPr/>
        </p:nvSpPr>
        <p:spPr>
          <a:xfrm>
            <a:off x="548640" y="1783080"/>
            <a:ext cx="5852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92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Similitud (correlación de Pearson)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40680" y="18928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(2)</a:t>
            </a:r>
            <a:endParaRPr lang="en-US" sz="1600" dirty="0"/>
          </a:p>
        </p:txBody>
      </p:sp>
      <p:pic>
        <p:nvPicPr>
          <p:cNvPr id="6" name="Image 0" descr="Ecuación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286000"/>
            <a:ext cx="5029200" cy="778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55630"/>
            <a:ext cx="5394960" cy="86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F2933"/>
                </a:solidFill>
              </a:rPr>
              <a:t>ρ</a:t>
            </a:r>
            <a:r>
              <a:rPr lang="en-US" sz="1400" dirty="0">
                <a:solidFill>
                  <a:srgbClr val="1F2933"/>
                </a:solidFill>
              </a:rPr>
              <a:t>: similitud entre </a:t>
            </a:r>
            <a:r>
              <a:rPr lang="en-US" sz="1400" i="1" dirty="0">
                <a:solidFill>
                  <a:srgbClr val="1F2933"/>
                </a:solidFill>
              </a:rPr>
              <a:t>u</a:t>
            </a:r>
            <a:r>
              <a:rPr lang="en-US" sz="1400" dirty="0">
                <a:solidFill>
                  <a:srgbClr val="1F2933"/>
                </a:solidFill>
              </a:rPr>
              <a:t> y </a:t>
            </a:r>
            <a:r>
              <a:rPr lang="en-US" sz="1400" i="1" dirty="0">
                <a:solidFill>
                  <a:srgbClr val="1F2933"/>
                </a:solidFill>
              </a:rPr>
              <a:t>v</a:t>
            </a:r>
            <a:r>
              <a:rPr lang="en-US" sz="1400" dirty="0">
                <a:solidFill>
                  <a:srgbClr val="1F2933"/>
                </a:solidFill>
              </a:rPr>
              <a:t>; </a:t>
            </a:r>
            <a:r>
              <a:rPr lang="en-US" sz="1400" i="1" dirty="0">
                <a:solidFill>
                  <a:srgbClr val="1F2933"/>
                </a:solidFill>
              </a:rPr>
              <a:t>z</a:t>
            </a:r>
            <a:r>
              <a:rPr lang="en-US" sz="1400" dirty="0">
                <a:solidFill>
                  <a:srgbClr val="1F2933"/>
                </a:solidFill>
              </a:rPr>
              <a:t>: valores estandarizados de (1); la barra indica la media del perfil de cada unidad entre los </a:t>
            </a:r>
            <a:r>
              <a:rPr lang="en-US" sz="1400" i="1" dirty="0">
                <a:solidFill>
                  <a:srgbClr val="1F2933"/>
                </a:solidFill>
              </a:rPr>
              <a:t>p</a:t>
            </a:r>
            <a:r>
              <a:rPr lang="en-US" sz="1400" dirty="0">
                <a:solidFill>
                  <a:srgbClr val="1F2933"/>
                </a:solidFill>
              </a:rPr>
              <a:t> atributos. Siempre </a:t>
            </a:r>
            <a:r>
              <a:rPr lang="en-US" sz="1400" i="1" dirty="0">
                <a:solidFill>
                  <a:srgbClr val="1F2933"/>
                </a:solidFill>
              </a:rPr>
              <a:t>ρ</a:t>
            </a:r>
            <a:r>
              <a:rPr lang="en-US" sz="1400" dirty="0">
                <a:solidFill>
                  <a:srgbClr val="1F2933"/>
                </a:solidFill>
              </a:rPr>
              <a:t> ∈ [−1, 1].</a:t>
            </a:r>
            <a:endParaRPr lang="en-US" sz="1400" dirty="0"/>
          </a:p>
        </p:txBody>
      </p:sp>
      <p:sp>
        <p:nvSpPr>
          <p:cNvPr id="8" name="Tarjeta Umbral de dispersión del grafo"/>
          <p:cNvSpPr/>
          <p:nvPr/>
        </p:nvSpPr>
        <p:spPr>
          <a:xfrm>
            <a:off x="548640" y="4206240"/>
            <a:ext cx="5852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4315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Umbral de dispersión del grafo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43159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(3)</a:t>
            </a:r>
            <a:endParaRPr lang="en-US" sz="1600" dirty="0"/>
          </a:p>
        </p:txBody>
      </p:sp>
      <p:pic>
        <p:nvPicPr>
          <p:cNvPr id="11" name="Image 1" descr="Ecuación (3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" y="4793610"/>
            <a:ext cx="3657600" cy="28830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" y="525780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F2933"/>
                </a:solidFill>
              </a:rPr>
              <a:t>A</a:t>
            </a:r>
            <a:r>
              <a:rPr lang="en-US" sz="1400" dirty="0">
                <a:solidFill>
                  <a:srgbClr val="1F2933"/>
                </a:solidFill>
              </a:rPr>
              <a:t>: entrada de la matriz de adyacencia; 1[·]: función indicadora (vale 1 si se cumple la condición y 0 si no); </a:t>
            </a:r>
            <a:r>
              <a:rPr lang="en-US" sz="1400" i="1" dirty="0">
                <a:solidFill>
                  <a:srgbClr val="1F2933"/>
                </a:solidFill>
              </a:rPr>
              <a:t>q</a:t>
            </a:r>
            <a:r>
              <a:rPr lang="en-US" sz="1400" dirty="0">
                <a:solidFill>
                  <a:srgbClr val="1F2933"/>
                </a:solidFill>
              </a:rPr>
              <a:t>: percentil de las similitudes por pares (aquí el 75).</a:t>
            </a:r>
            <a:endParaRPr lang="en-US" sz="1400" dirty="0"/>
          </a:p>
        </p:txBody>
      </p:sp>
      <p:pic>
        <p:nvPicPr>
          <p:cNvPr id="13" name="Video umbral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75120" y="1783080"/>
            <a:ext cx="4937760" cy="27774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75120" y="465201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670"/>
                </a:solidFill>
              </a:rPr>
              <a:t>Video: se conservan 69 de 276 pares (ρ ≥ 0.207). Cotopaxi queda aislada.</a:t>
            </a:r>
            <a:endParaRPr lang="en-US" sz="1200" dirty="0"/>
          </a:p>
        </p:txBody>
      </p:sp>
      <p:sp>
        <p:nvSpPr>
          <p:cNvPr id="15" name="Resultado del umbral"/>
          <p:cNvSpPr/>
          <p:nvPr/>
        </p:nvSpPr>
        <p:spPr>
          <a:xfrm>
            <a:off x="6675120" y="5154930"/>
            <a:ext cx="49377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858000" y="515493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Con </a:t>
            </a:r>
            <a:r>
              <a:rPr lang="en-US" sz="1400" i="1" dirty="0">
                <a:solidFill>
                  <a:srgbClr val="1F2933"/>
                </a:solidFill>
              </a:rPr>
              <a:t>p</a:t>
            </a:r>
            <a:r>
              <a:rPr lang="en-US" sz="1400" dirty="0">
                <a:solidFill>
                  <a:srgbClr val="1F2933"/>
                </a:solidFill>
              </a:rPr>
              <a:t> = 0.75 el grafo queda con 23 nodos, 69 aristas y densidad 0.273.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Paso 4: modularidad y algoritmo de Louvain</a:t>
            </a:r>
            <a:endParaRPr lang="en-US" sz="3000" dirty="0"/>
          </a:p>
        </p:txBody>
      </p:sp>
      <p:sp>
        <p:nvSpPr>
          <p:cNvPr id="3" name="Tarjeta Modularidad de una partición"/>
          <p:cNvSpPr/>
          <p:nvPr/>
        </p:nvSpPr>
        <p:spPr>
          <a:xfrm>
            <a:off x="548640" y="1828800"/>
            <a:ext cx="5852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938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Modularidad de una partición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40680" y="19385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(4)</a:t>
            </a:r>
            <a:endParaRPr lang="en-US" sz="1600" dirty="0"/>
          </a:p>
        </p:txBody>
      </p:sp>
      <p:pic>
        <p:nvPicPr>
          <p:cNvPr id="6" name="Image 0" descr="Ecuación (4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337343"/>
            <a:ext cx="5120640" cy="90315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337560"/>
            <a:ext cx="5394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F2933"/>
                </a:solidFill>
              </a:rPr>
              <a:t>Q</a:t>
            </a:r>
            <a:r>
              <a:rPr lang="en-US" sz="1400" dirty="0">
                <a:solidFill>
                  <a:srgbClr val="1F2933"/>
                </a:solidFill>
              </a:rPr>
              <a:t>: modularidad; </a:t>
            </a:r>
            <a:r>
              <a:rPr lang="en-US" sz="1400" i="1" dirty="0">
                <a:solidFill>
                  <a:srgbClr val="1F2933"/>
                </a:solidFill>
              </a:rPr>
              <a:t>A</a:t>
            </a:r>
            <a:r>
              <a:rPr lang="en-US" sz="1400" dirty="0">
                <a:solidFill>
                  <a:srgbClr val="1F2933"/>
                </a:solidFill>
              </a:rPr>
              <a:t>: adyacencia de (3); </a:t>
            </a:r>
            <a:r>
              <a:rPr lang="en-US" sz="1400" i="1" dirty="0">
                <a:solidFill>
                  <a:srgbClr val="1F2933"/>
                </a:solidFill>
              </a:rPr>
              <a:t>m</a:t>
            </a:r>
            <a:r>
              <a:rPr lang="en-US" sz="1400" dirty="0">
                <a:solidFill>
                  <a:srgbClr val="1F2933"/>
                </a:solidFill>
              </a:rPr>
              <a:t>: suma de pesos de aristas; </a:t>
            </a:r>
            <a:r>
              <a:rPr lang="en-US" sz="1400" i="1" dirty="0">
                <a:solidFill>
                  <a:srgbClr val="1F2933"/>
                </a:solidFill>
              </a:rPr>
              <a:t>k</a:t>
            </a:r>
            <a:r>
              <a:rPr lang="en-US" sz="1400" dirty="0">
                <a:solidFill>
                  <a:srgbClr val="1F2933"/>
                </a:solidFill>
              </a:rPr>
              <a:t>: grado ponderado de cada nodo; </a:t>
            </a:r>
            <a:r>
              <a:rPr lang="en-US" sz="1400" i="1" dirty="0">
                <a:solidFill>
                  <a:srgbClr val="1F2933"/>
                </a:solidFill>
              </a:rPr>
              <a:t>c</a:t>
            </a:r>
            <a:r>
              <a:rPr lang="en-US" sz="1400" dirty="0">
                <a:solidFill>
                  <a:srgbClr val="1F2933"/>
                </a:solidFill>
              </a:rPr>
              <a:t>: comunidad asignada; </a:t>
            </a:r>
            <a:r>
              <a:rPr lang="en-US" sz="1400" i="1" dirty="0">
                <a:solidFill>
                  <a:srgbClr val="1F2933"/>
                </a:solidFill>
              </a:rPr>
              <a:t>δ</a:t>
            </a:r>
            <a:r>
              <a:rPr lang="en-US" sz="1400" dirty="0">
                <a:solidFill>
                  <a:srgbClr val="1F2933"/>
                </a:solidFill>
              </a:rPr>
              <a:t> vale 1 si </a:t>
            </a:r>
            <a:r>
              <a:rPr lang="en-US" sz="1400" i="1" dirty="0">
                <a:solidFill>
                  <a:srgbClr val="1F2933"/>
                </a:solidFill>
              </a:rPr>
              <a:t>u</a:t>
            </a:r>
            <a:r>
              <a:rPr lang="en-US" sz="1400" dirty="0">
                <a:solidFill>
                  <a:srgbClr val="1F2933"/>
                </a:solidFill>
              </a:rPr>
              <a:t> y </a:t>
            </a:r>
            <a:r>
              <a:rPr lang="en-US" sz="1400" i="1" dirty="0">
                <a:solidFill>
                  <a:srgbClr val="1F2933"/>
                </a:solidFill>
              </a:rPr>
              <a:t>v</a:t>
            </a:r>
            <a:r>
              <a:rPr lang="en-US" sz="1400" dirty="0">
                <a:solidFill>
                  <a:srgbClr val="1F2933"/>
                </a:solidFill>
              </a:rPr>
              <a:t> están en la misma comunidad y 0 si no. El término </a:t>
            </a:r>
            <a:r>
              <a:rPr lang="en-US" sz="1400" i="1" dirty="0">
                <a:solidFill>
                  <a:srgbClr val="1F2933"/>
                </a:solidFill>
              </a:rPr>
              <a:t>k k</a:t>
            </a:r>
            <a:r>
              <a:rPr lang="en-US" sz="1400" dirty="0">
                <a:solidFill>
                  <a:srgbClr val="1F2933"/>
                </a:solidFill>
              </a:rPr>
              <a:t> / 2</a:t>
            </a:r>
            <a:r>
              <a:rPr lang="en-US" sz="1400" i="1" dirty="0">
                <a:solidFill>
                  <a:srgbClr val="1F2933"/>
                </a:solidFill>
              </a:rPr>
              <a:t>m</a:t>
            </a:r>
            <a:r>
              <a:rPr lang="en-US" sz="1400" dirty="0">
                <a:solidFill>
                  <a:srgbClr val="1F2933"/>
                </a:solidFill>
              </a:rPr>
              <a:t> es el peso esperado por azar.</a:t>
            </a:r>
            <a:endParaRPr lang="en-US" sz="1400" dirty="0"/>
          </a:p>
        </p:txBody>
      </p:sp>
      <p:sp>
        <p:nvSpPr>
          <p:cNvPr id="8" name="Idea de Louvain"/>
          <p:cNvSpPr/>
          <p:nvPr/>
        </p:nvSpPr>
        <p:spPr>
          <a:xfrm>
            <a:off x="548640" y="5349240"/>
            <a:ext cx="5852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349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Maximizar </a:t>
            </a:r>
            <a:r>
              <a:rPr lang="en-US" sz="1400" i="1" dirty="0">
                <a:solidFill>
                  <a:srgbClr val="1F2933"/>
                </a:solidFill>
              </a:rPr>
              <a:t>Q</a:t>
            </a:r>
            <a:r>
              <a:rPr lang="en-US" sz="1400" dirty="0">
                <a:solidFill>
                  <a:srgbClr val="1F2933"/>
                </a:solidFill>
              </a:rPr>
              <a:t> exactamente es NP-difícil. Louvain lo hace de forma voraz en dos fases: mover nodos y colapsar comunidades.</a:t>
            </a:r>
            <a:endParaRPr lang="en-US" sz="1400" dirty="0"/>
          </a:p>
        </p:txBody>
      </p:sp>
      <p:pic>
        <p:nvPicPr>
          <p:cNvPr id="10" name="Video louvai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75120" y="1828800"/>
            <a:ext cx="4937760" cy="27774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469773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670"/>
                </a:solidFill>
              </a:rPr>
              <a:t>Video: la modularidad Q sube de −0.050 a 0.446 y emergen cuatro comunidades.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Resultado: cuatro comunidades estructurales</a:t>
            </a:r>
            <a:endParaRPr lang="en-US" sz="3000" dirty="0"/>
          </a:p>
        </p:txBody>
      </p:sp>
      <p:pic>
        <p:nvPicPr>
          <p:cNvPr id="3" name="Image 0" descr="Grafo de comunidades estructurales de abandono escolar por provin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852160" cy="4522124"/>
          </a:xfrm>
          <a:prstGeom prst="rect">
            <a:avLst/>
          </a:prstGeom>
        </p:spPr>
      </p:pic>
      <p:sp>
        <p:nvSpPr>
          <p:cNvPr id="4" name="Dato nodos"/>
          <p:cNvSpPr/>
          <p:nvPr/>
        </p:nvSpPr>
        <p:spPr>
          <a:xfrm>
            <a:off x="6812280" y="1783080"/>
            <a:ext cx="2331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12280" y="1892808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23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2605126"/>
            <a:ext cx="21488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</a:rPr>
              <a:t>nodos</a:t>
            </a:r>
            <a:endParaRPr lang="en-US" sz="1400" dirty="0"/>
          </a:p>
        </p:txBody>
      </p:sp>
      <p:sp>
        <p:nvSpPr>
          <p:cNvPr id="7" name="Dato aristas"/>
          <p:cNvSpPr/>
          <p:nvPr/>
        </p:nvSpPr>
        <p:spPr>
          <a:xfrm>
            <a:off x="9281160" y="1783080"/>
            <a:ext cx="2331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281160" y="1892808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69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372600" y="2605126"/>
            <a:ext cx="21488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</a:rPr>
              <a:t>aristas</a:t>
            </a:r>
            <a:endParaRPr lang="en-US" sz="1400" dirty="0"/>
          </a:p>
        </p:txBody>
      </p:sp>
      <p:sp>
        <p:nvSpPr>
          <p:cNvPr id="10" name="Dato densidad"/>
          <p:cNvSpPr/>
          <p:nvPr/>
        </p:nvSpPr>
        <p:spPr>
          <a:xfrm>
            <a:off x="6812280" y="3383280"/>
            <a:ext cx="2331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12280" y="3493008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0.273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4205326"/>
            <a:ext cx="21488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</a:rPr>
              <a:t>densidad</a:t>
            </a:r>
            <a:endParaRPr lang="en-US" sz="1400" dirty="0"/>
          </a:p>
        </p:txBody>
      </p:sp>
      <p:sp>
        <p:nvSpPr>
          <p:cNvPr id="13" name="Dato modularidad Q"/>
          <p:cNvSpPr/>
          <p:nvPr/>
        </p:nvSpPr>
        <p:spPr>
          <a:xfrm>
            <a:off x="9281160" y="3383280"/>
            <a:ext cx="2331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281160" y="3493008"/>
            <a:ext cx="2331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0.446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372600" y="4205326"/>
            <a:ext cx="21488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</a:rPr>
              <a:t>modularidad Q</a:t>
            </a:r>
            <a:endParaRPr lang="en-US" sz="1400" dirty="0"/>
          </a:p>
        </p:txBody>
      </p:sp>
      <p:sp>
        <p:nvSpPr>
          <p:cNvPr id="16" name="Nota Cotopaxi"/>
          <p:cNvSpPr/>
          <p:nvPr/>
        </p:nvSpPr>
        <p:spPr>
          <a:xfrm>
            <a:off x="6812280" y="5029200"/>
            <a:ext cx="48006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95160" y="502920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Cotopaxi queda aislada (sin aristas) en el umbral principal: su perfil no se parece lo bastante al de ninguna otra provincia.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Validez: ninguna comunidad coincide con una sola zona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83080"/>
          <a:ext cx="53949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Lectura del gráfico"/>
          <p:cNvSpPr/>
          <p:nvPr/>
        </p:nvSpPr>
        <p:spPr>
          <a:xfrm>
            <a:off x="548640" y="5715000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5715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 el grafo coincidiera con la zonificación, cada comunidad tendría 1 zona.</a:t>
            </a:r>
            <a:endParaRPr lang="en-US" sz="1400" dirty="0"/>
          </a:p>
        </p:txBody>
      </p:sp>
      <p:sp>
        <p:nvSpPr>
          <p:cNvPr id="6" name="Comunidad 1"/>
          <p:cNvSpPr/>
          <p:nvPr/>
        </p:nvSpPr>
        <p:spPr>
          <a:xfrm>
            <a:off x="6309360" y="1783080"/>
            <a:ext cx="5303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7" name="Color comunidad 1"/>
          <p:cNvSpPr/>
          <p:nvPr/>
        </p:nvSpPr>
        <p:spPr>
          <a:xfrm>
            <a:off x="6492240" y="2130552"/>
            <a:ext cx="347472" cy="347472"/>
          </a:xfrm>
          <a:prstGeom prst="ellipse">
            <a:avLst/>
          </a:prstGeom>
          <a:solidFill>
            <a:srgbClr val="66C2A5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182880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2E"/>
                </a:solidFill>
              </a:rPr>
              <a:t>Comunidad 1  </a:t>
            </a:r>
            <a:r>
              <a:rPr lang="en-US" sz="1400" dirty="0">
                <a:solidFill>
                  <a:srgbClr val="5B6670"/>
                </a:solidFill>
              </a:rPr>
              <a:t>Zonas 4, 5, 6, 8, 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Azuay, Cañar, Galápagos, Guayas, Pichincha, Santa Elena, Sto. Domingo</a:t>
            </a:r>
            <a:endParaRPr lang="en-US" sz="1400" dirty="0"/>
          </a:p>
        </p:txBody>
      </p:sp>
      <p:sp>
        <p:nvSpPr>
          <p:cNvPr id="9" name="Comunidad 2"/>
          <p:cNvSpPr/>
          <p:nvPr/>
        </p:nvSpPr>
        <p:spPr>
          <a:xfrm>
            <a:off x="6309360" y="2926080"/>
            <a:ext cx="5303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0" name="Color comunidad 2"/>
          <p:cNvSpPr/>
          <p:nvPr/>
        </p:nvSpPr>
        <p:spPr>
          <a:xfrm>
            <a:off x="6492240" y="3273552"/>
            <a:ext cx="347472" cy="347472"/>
          </a:xfrm>
          <a:prstGeom prst="ellipse">
            <a:avLst/>
          </a:prstGeom>
          <a:solidFill>
            <a:srgbClr val="FC8D62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297180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2E"/>
                </a:solidFill>
              </a:rPr>
              <a:t>Comunidad 2  </a:t>
            </a:r>
            <a:r>
              <a:rPr lang="en-US" sz="1400" dirty="0">
                <a:solidFill>
                  <a:srgbClr val="5B6670"/>
                </a:solidFill>
              </a:rPr>
              <a:t>Zonas 2, 4, 5, 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Bolívar, El Oro, Manabí, Napo, Orellana, Zamora Chinchipe</a:t>
            </a:r>
            <a:endParaRPr lang="en-US" sz="1400" dirty="0"/>
          </a:p>
        </p:txBody>
      </p:sp>
      <p:sp>
        <p:nvSpPr>
          <p:cNvPr id="12" name="Comunidad 3"/>
          <p:cNvSpPr/>
          <p:nvPr/>
        </p:nvSpPr>
        <p:spPr>
          <a:xfrm>
            <a:off x="6309360" y="4069080"/>
            <a:ext cx="5303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3" name="Color comunidad 3"/>
          <p:cNvSpPr/>
          <p:nvPr/>
        </p:nvSpPr>
        <p:spPr>
          <a:xfrm>
            <a:off x="6492240" y="4416552"/>
            <a:ext cx="347472" cy="347472"/>
          </a:xfrm>
          <a:prstGeom prst="ellipse">
            <a:avLst/>
          </a:prstGeom>
          <a:solidFill>
            <a:srgbClr val="8DA0CB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95160" y="411480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2E"/>
                </a:solidFill>
              </a:rPr>
              <a:t>Comunidad 3  </a:t>
            </a:r>
            <a:r>
              <a:rPr lang="en-US" sz="1400" dirty="0">
                <a:solidFill>
                  <a:srgbClr val="5B6670"/>
                </a:solidFill>
              </a:rPr>
              <a:t>Zonas 1, 3,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Carchi, Esmeraldas, Los Ríos, Pastaza, Sucumbíos</a:t>
            </a:r>
            <a:endParaRPr lang="en-US" sz="1400" dirty="0"/>
          </a:p>
        </p:txBody>
      </p:sp>
      <p:sp>
        <p:nvSpPr>
          <p:cNvPr id="15" name="Comunidad 4"/>
          <p:cNvSpPr/>
          <p:nvPr/>
        </p:nvSpPr>
        <p:spPr>
          <a:xfrm>
            <a:off x="6309360" y="5212080"/>
            <a:ext cx="5303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6" name="Color comunidad 4"/>
          <p:cNvSpPr/>
          <p:nvPr/>
        </p:nvSpPr>
        <p:spPr>
          <a:xfrm>
            <a:off x="6492240" y="5559552"/>
            <a:ext cx="347472" cy="347472"/>
          </a:xfrm>
          <a:prstGeom prst="ellipse">
            <a:avLst/>
          </a:prstGeom>
          <a:solidFill>
            <a:srgbClr val="A6D854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95160" y="525780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2E"/>
                </a:solidFill>
              </a:rPr>
              <a:t>Comunidad 4  </a:t>
            </a:r>
            <a:r>
              <a:rPr lang="en-US" sz="1400" dirty="0">
                <a:solidFill>
                  <a:srgbClr val="5B6670"/>
                </a:solidFill>
              </a:rPr>
              <a:t>Zonas 1, 3, 6, 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Chimborazo, Imbabura, Loja, Morona Santiago, Tungurahua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Robustez: sensibilidad al umbral</a:t>
            </a:r>
            <a:endParaRPr lang="en-US" sz="3000" dirty="0"/>
          </a:p>
        </p:txBody>
      </p:sp>
      <p:pic>
        <p:nvPicPr>
          <p:cNvPr id="3" name="Video sensibilidad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783080"/>
            <a:ext cx="6035040" cy="33947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6923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670"/>
                </a:solidFill>
              </a:rPr>
              <a:t>Video: percentiles 0.60 a 0.90. Los nodos cambian de color solo en las provincias frontera.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0" y="1783080"/>
          <a:ext cx="47548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Hallazgos de robustez"/>
          <p:cNvSpPr/>
          <p:nvPr/>
        </p:nvSpPr>
        <p:spPr>
          <a:xfrm>
            <a:off x="6858000" y="4983480"/>
            <a:ext cx="4754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040880" y="49834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4 comunidades estables entre los percentiles 0.65 y 0.90.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Cotopaxi, El Oro y Sucumbíos: provincias frontera, sensibles al umbral.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Segunda capa: abandono más contexto y recursos</a:t>
            </a:r>
            <a:endParaRPr lang="en-US" sz="3000" dirty="0"/>
          </a:p>
        </p:txBody>
      </p:sp>
      <p:pic>
        <p:nvPicPr>
          <p:cNvPr id="3" name="Image 0" descr="Comparación de comunidades: solo abandono frente a abandono más ratio estudiante docente y VAB per cápi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8229600" cy="4371975"/>
          </a:xfrm>
          <a:prstGeom prst="rect">
            <a:avLst/>
          </a:prstGeom>
        </p:spPr>
      </p:pic>
      <p:sp>
        <p:nvSpPr>
          <p:cNvPr id="4" name="Dato correlación entre ambas matrices de similitud"/>
          <p:cNvSpPr/>
          <p:nvPr/>
        </p:nvSpPr>
        <p:spPr>
          <a:xfrm>
            <a:off x="9098280" y="178308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098280" y="1892808"/>
            <a:ext cx="251460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0.553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9189720" y="2711196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3"/>
                </a:solidFill>
              </a:rPr>
              <a:t>correlación entre ambas matrices de similitud</a:t>
            </a:r>
            <a:endParaRPr lang="en-US" sz="1400" dirty="0"/>
          </a:p>
        </p:txBody>
      </p:sp>
      <p:sp>
        <p:nvSpPr>
          <p:cNvPr id="7" name="Interpretación"/>
          <p:cNvSpPr/>
          <p:nvPr/>
        </p:nvSpPr>
        <p:spPr>
          <a:xfrm>
            <a:off x="9098280" y="3520440"/>
            <a:ext cx="2514600" cy="26974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235440" y="352044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Al añadir el ratio estudiante/docente y el VAB per cápita (17 variables), la vecindad de varias provincias cambia: la desigualdad por resultados no es intercambiable con la de recursos.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2820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670"/>
                </a:solidFill>
              </a:rPr>
              <a:t>Izquierda: solo perfil de abandono (15 variables). Derecha: abandono más contexto (17 variables).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Discusión y limitaciones</a:t>
            </a:r>
            <a:endParaRPr lang="en-US" sz="3000" dirty="0"/>
          </a:p>
        </p:txBody>
      </p:sp>
      <p:sp>
        <p:nvSpPr>
          <p:cNvPr id="3" name="Tarjeta Evidencia"/>
          <p:cNvSpPr/>
          <p:nvPr/>
        </p:nvSpPr>
        <p:spPr>
          <a:xfrm>
            <a:off x="548640" y="18288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Evidencia fondo"/>
          <p:cNvSpPr/>
          <p:nvPr/>
        </p:nvSpPr>
        <p:spPr>
          <a:xfrm>
            <a:off x="777240" y="21031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Eviden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2640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Evidencia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5603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Hay desalineación estructural entre lo observado y la organización administrativa. Es exploratoria y robusta al umbral.</a:t>
            </a:r>
            <a:endParaRPr lang="en-US" sz="1400" dirty="0"/>
          </a:p>
        </p:txBody>
      </p:sp>
      <p:sp>
        <p:nvSpPr>
          <p:cNvPr id="8" name="Tarjeta Sin causalidad"/>
          <p:cNvSpPr/>
          <p:nvPr/>
        </p:nvSpPr>
        <p:spPr>
          <a:xfrm>
            <a:off x="6172200" y="18288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Sin causalidad fondo"/>
          <p:cNvSpPr/>
          <p:nvPr/>
        </p:nvSpPr>
        <p:spPr>
          <a:xfrm>
            <a:off x="6400800" y="2103120"/>
            <a:ext cx="731520" cy="731520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10" name="Image 1" descr="Sin causalid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734" y="226405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Sin causalidad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25603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No se afirma mala gestión: AMIE mide resultados, no calidad de gestión.</a:t>
            </a:r>
            <a:endParaRPr lang="en-US" sz="1400" dirty="0"/>
          </a:p>
        </p:txBody>
      </p:sp>
      <p:sp>
        <p:nvSpPr>
          <p:cNvPr id="13" name="Tarjeta Límite del VAB"/>
          <p:cNvSpPr/>
          <p:nvPr/>
        </p:nvSpPr>
        <p:spPr>
          <a:xfrm>
            <a:off x="548640" y="41148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Límite del VAB fondo"/>
          <p:cNvSpPr/>
          <p:nvPr/>
        </p:nvSpPr>
        <p:spPr>
          <a:xfrm>
            <a:off x="777240" y="4389120"/>
            <a:ext cx="731520" cy="731520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15" name="Image 2" descr="Límite del VA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" y="455005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Límite del VAB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48463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En provincias petroleras (Orellana, Sucumbíos) el VAB per cápita puede sobreestimar la capacidad económica de los hogares.</a:t>
            </a:r>
            <a:endParaRPr lang="en-US" sz="1400" dirty="0"/>
          </a:p>
        </p:txBody>
      </p:sp>
      <p:sp>
        <p:nvSpPr>
          <p:cNvPr id="18" name="Tarjeta Un solo año"/>
          <p:cNvSpPr/>
          <p:nvPr/>
        </p:nvSpPr>
        <p:spPr>
          <a:xfrm>
            <a:off x="6172200" y="41148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Un solo año fondo"/>
          <p:cNvSpPr/>
          <p:nvPr/>
        </p:nvSpPr>
        <p:spPr>
          <a:xfrm>
            <a:off x="6400800" y="4389120"/>
            <a:ext cx="731520" cy="731520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20" name="Image 3" descr="Un solo añ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734" y="455005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6092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 solo año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360920" y="48463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Corte transversal: se desconoce la estabilidad temporal. Las provincias frontera requieren análisis cualitativo.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Conclusiones: un método, no solo un hallazgo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82880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El aporte es metodológico: estandarización, grafo de similitud, Louvain, sensibilidad y segunda capa revelan agrupamientos que una tabla no muestra.</a:t>
            </a:r>
            <a:endParaRPr lang="en-US" sz="1600" dirty="0"/>
          </a:p>
        </p:txBody>
      </p:sp>
      <p:sp>
        <p:nvSpPr>
          <p:cNvPr id="6" name="Número 2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33756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En Ecuador, las comunidades no coinciden con la zonificación oficial (3 a 5 zonas por comunidad): el método detecta estructura genuina.</a:t>
            </a:r>
            <a:endParaRPr lang="en-US" sz="1600" dirty="0"/>
          </a:p>
        </p:txBody>
      </p:sp>
      <p:sp>
        <p:nvSpPr>
          <p:cNvPr id="9" name="Número 3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84632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El mismo procedimiento es aplicable a otros sistemas comparables con datos multivariados: salud, economía, comercio.</a:t>
            </a:r>
            <a:endParaRPr lang="en-US" sz="1600" dirty="0"/>
          </a:p>
        </p:txBody>
      </p:sp>
      <p:sp>
        <p:nvSpPr>
          <p:cNvPr id="12" name="Trabajo futuro"/>
          <p:cNvSpPr/>
          <p:nvPr/>
        </p:nvSpPr>
        <p:spPr>
          <a:xfrm>
            <a:off x="7315200" y="1828800"/>
            <a:ext cx="4297680" cy="4389120"/>
          </a:xfrm>
          <a:prstGeom prst="roundRect">
            <a:avLst>
              <a:gd name="adj" fmla="val 2553"/>
            </a:avLst>
          </a:prstGeom>
          <a:solidFill>
            <a:srgbClr val="0B4F2E"/>
          </a:solidFill>
          <a:ln/>
        </p:spPr>
      </p:sp>
      <p:sp>
        <p:nvSpPr>
          <p:cNvPr id="13" name="Trabajo futuro fondo"/>
          <p:cNvSpPr/>
          <p:nvPr/>
        </p:nvSpPr>
        <p:spPr>
          <a:xfrm>
            <a:off x="758952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0" descr="Trabajo futu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454" y="2264054"/>
            <a:ext cx="409651" cy="40965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50392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Trabajo futuro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30632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F2EA"/>
                </a:solidFill>
              </a:rPr>
              <a:t>Modelo jerárquico bayesiano multinivel (Zona → Provincia → abandono) que formalice, con incertidumbre explícita, lo que el grafo muestra de forma exploratoria.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d de provincias coloreada por comunid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75" y="0"/>
            <a:ext cx="5303520" cy="6858000"/>
          </a:xfrm>
          <a:prstGeom prst="rect">
            <a:avLst/>
          </a:prstGeom>
        </p:spPr>
      </p:pic>
      <p:sp>
        <p:nvSpPr>
          <p:cNvPr id="3" name="Placa logos"/>
          <p:cNvSpPr/>
          <p:nvPr/>
        </p:nvSpPr>
        <p:spPr>
          <a:xfrm>
            <a:off x="548640" y="365760"/>
            <a:ext cx="46634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4" name="Image 1" descr="Universidad Técnica de Manabí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5488"/>
            <a:ext cx="1896039" cy="694944"/>
          </a:xfrm>
          <a:prstGeom prst="rect">
            <a:avLst/>
          </a:prstGeom>
        </p:spPr>
      </p:pic>
      <p:pic>
        <p:nvPicPr>
          <p:cNvPr id="5" name="Image 2" descr="CCIUTM 20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548640"/>
            <a:ext cx="1542593" cy="548640"/>
          </a:xfrm>
          <a:prstGeom prst="rect">
            <a:avLst/>
          </a:prstGeom>
        </p:spPr>
      </p:pic>
      <p:sp>
        <p:nvSpPr>
          <p:cNvPr id="6" name="Título"/>
          <p:cNvSpPr txBox="1"/>
          <p:nvPr/>
        </p:nvSpPr>
        <p:spPr>
          <a:xfrm>
            <a:off x="548640" y="16002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Gracias</a:t>
            </a:r>
            <a:endParaRPr lang="en-US" sz="44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4069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Jhon Ronald Barros Naranjo, MSc.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4348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D5"/>
                </a:solidFill>
              </a:rPr>
              <a:t>jhon.barros@utm.edu.ec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0292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Dimas Geovanny Vera Pisco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3949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D5"/>
                </a:solidFill>
              </a:rPr>
              <a:t>dimas.vera@utm.edu.ec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080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8D5"/>
                </a:solidFill>
              </a:rPr>
              <a:t>Universidad Técnica de Manabí · www.utm.edu.ec</a:t>
            </a:r>
            <a:endParaRPr lang="en-US" sz="1400" dirty="0"/>
          </a:p>
        </p:txBody>
      </p:sp>
      <p:sp>
        <p:nvSpPr>
          <p:cNvPr id="12" name="QR tarjeta"/>
          <p:cNvSpPr/>
          <p:nvPr/>
        </p:nvSpPr>
        <p:spPr>
          <a:xfrm>
            <a:off x="4160520" y="1600200"/>
            <a:ext cx="26517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QR materiales" descr="qr_materia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737360"/>
            <a:ext cx="2286000" cy="2286000"/>
          </a:xfrm>
          <a:prstGeom prst="rect">
            <a:avLst/>
          </a:prstGeom>
        </p:spPr>
      </p:pic>
      <p:sp>
        <p:nvSpPr>
          <p:cNvPr id="14" name="QR texto"/>
          <p:cNvSpPr txBox="1"/>
          <p:nvPr/>
        </p:nvSpPr>
        <p:spPr>
          <a:xfrm>
            <a:off x="4206240" y="404164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B4F2E"/>
                </a:solidFill>
              </a:rPr>
              <a:t>Materiales y código</a:t>
            </a:r>
          </a:p>
        </p:txBody>
      </p:sp>
      <p:sp>
        <p:nvSpPr>
          <p:cNvPr id="15" name="QR enlace"/>
          <p:cNvSpPr txBox="1"/>
          <p:nvPr/>
        </p:nvSpPr>
        <p:spPr>
          <a:xfrm>
            <a:off x="4206240" y="43708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670"/>
                </a:solidFill>
              </a:rPr>
              <a:t>jbarrosn.github.io/replicacion-CCIUTM2026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Título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2E"/>
                </a:solidFill>
              </a:rPr>
              <a:t>¿Qué es un grafo? Una estructura matemática de relaciones</a:t>
            </a:r>
            <a:endParaRPr lang="en-US" sz="3000" dirty="0"/>
          </a:p>
        </p:txBody>
      </p:sp>
      <p:sp>
        <p:nvSpPr>
          <p:cNvPr id="90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902" name="Tarjeta definición"/>
          <p:cNvSpPr/>
          <p:nvPr/>
        </p:nvSpPr>
        <p:spPr>
          <a:xfrm>
            <a:off x="548640" y="1783080"/>
            <a:ext cx="5760720" cy="3749039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Definición título"/>
          <p:cNvSpPr txBox="1"/>
          <p:nvPr/>
        </p:nvSpPr>
        <p:spPr>
          <a:xfrm>
            <a:off x="777240" y="1892807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4F2E"/>
                </a:solidFill>
              </a:rPr>
              <a:t>Definición</a:t>
            </a:r>
          </a:p>
        </p:txBody>
      </p:sp>
      <p:sp>
        <p:nvSpPr>
          <p:cNvPr id="904" name="Def 1"/>
          <p:cNvSpPr txBox="1"/>
          <p:nvPr/>
        </p:nvSpPr>
        <p:spPr>
          <a:xfrm>
            <a:off x="777240" y="22860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</a:rPr>
              <a:t>Un grafo es un par ordenado</a:t>
            </a:r>
          </a:p>
        </p:txBody>
      </p:sp>
      <p:pic>
        <p:nvPicPr>
          <p:cNvPr id="905" name="Ecuación eq_grafo" descr="eq_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78608"/>
            <a:ext cx="1430121" cy="347167"/>
          </a:xfrm>
          <a:prstGeom prst="rect">
            <a:avLst/>
          </a:prstGeom>
        </p:spPr>
      </p:pic>
      <p:sp>
        <p:nvSpPr>
          <p:cNvPr id="906" name="Def 2"/>
          <p:cNvSpPr txBox="1"/>
          <p:nvPr/>
        </p:nvSpPr>
        <p:spPr>
          <a:xfrm>
            <a:off x="777240" y="303580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1F2933"/>
                </a:solidFill>
              </a:rPr>
              <a:t>V</a:t>
            </a:r>
            <a:r>
              <a:rPr sz="1400" b="0" i="0">
                <a:solidFill>
                  <a:srgbClr val="1F2933"/>
                </a:solidFill>
              </a:rPr>
              <a:t>: vértices o nodos.  </a:t>
            </a:r>
            <a:r>
              <a:rPr sz="1400" b="1" i="1">
                <a:solidFill>
                  <a:srgbClr val="1F2933"/>
                </a:solidFill>
              </a:rPr>
              <a:t>E</a:t>
            </a:r>
            <a:r>
              <a:rPr sz="1400" b="0" i="0">
                <a:solidFill>
                  <a:srgbClr val="1F2933"/>
                </a:solidFill>
              </a:rPr>
              <a:t>: aristas, pares no ordenados de vértices distintos</a:t>
            </a:r>
          </a:p>
        </p:txBody>
      </p:sp>
      <p:pic>
        <p:nvPicPr>
          <p:cNvPr id="907" name="Ecuación eq_aristas" descr="eq_aris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28416"/>
            <a:ext cx="3689299" cy="406755"/>
          </a:xfrm>
          <a:prstGeom prst="rect">
            <a:avLst/>
          </a:prstGeom>
        </p:spPr>
      </p:pic>
      <p:sp>
        <p:nvSpPr>
          <p:cNvPr id="908" name="Def 3"/>
          <p:cNvSpPr txBox="1"/>
          <p:nvPr/>
        </p:nvSpPr>
        <p:spPr>
          <a:xfrm>
            <a:off x="777240" y="38404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</a:rPr>
              <a:t>Grafo ponderado: cada arista lleva un peso</a:t>
            </a:r>
          </a:p>
        </p:txBody>
      </p:sp>
      <p:pic>
        <p:nvPicPr>
          <p:cNvPr id="909" name="Ecuación eq_ponderado" descr="eq_ponder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33087"/>
            <a:ext cx="3950969" cy="365302"/>
          </a:xfrm>
          <a:prstGeom prst="rect">
            <a:avLst/>
          </a:prstGeom>
        </p:spPr>
      </p:pic>
      <p:sp>
        <p:nvSpPr>
          <p:cNvPr id="910" name="Def 4"/>
          <p:cNvSpPr txBox="1"/>
          <p:nvPr/>
        </p:nvSpPr>
        <p:spPr>
          <a:xfrm>
            <a:off x="777240" y="46177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</a:rPr>
              <a:t>Se representa con su matriz de adyacencia</a:t>
            </a:r>
          </a:p>
        </p:txBody>
      </p:sp>
      <p:pic>
        <p:nvPicPr>
          <p:cNvPr id="911" name="Ecuación eq_adyacencia" descr="eq_adyacenc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910328"/>
            <a:ext cx="4737506" cy="317845"/>
          </a:xfrm>
          <a:prstGeom prst="rect">
            <a:avLst/>
          </a:prstGeom>
        </p:spPr>
      </p:pic>
      <p:sp>
        <p:nvSpPr>
          <p:cNvPr id="912" name="Tarjeta ejemplo"/>
          <p:cNvSpPr/>
          <p:nvPr/>
        </p:nvSpPr>
        <p:spPr>
          <a:xfrm>
            <a:off x="6492240" y="1783080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Ejemplo título"/>
          <p:cNvSpPr txBox="1"/>
          <p:nvPr/>
        </p:nvSpPr>
        <p:spPr>
          <a:xfrm>
            <a:off x="6720840" y="1892807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4F2E"/>
                </a:solidFill>
              </a:rPr>
              <a:t>Ejemplo con 5 vértices y 5 aristas</a:t>
            </a:r>
          </a:p>
        </p:txBody>
      </p:sp>
      <p:pic>
        <p:nvPicPr>
          <p:cNvPr id="914" name="Ejemplo grafo y matriz" descr="ejemplo_grafo_matri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286000"/>
            <a:ext cx="4754880" cy="2212293"/>
          </a:xfrm>
          <a:prstGeom prst="rect">
            <a:avLst/>
          </a:prstGeom>
        </p:spPr>
      </p:pic>
      <p:sp>
        <p:nvSpPr>
          <p:cNvPr id="915" name="Ejemplo lectura"/>
          <p:cNvSpPr txBox="1"/>
          <p:nvPr/>
        </p:nvSpPr>
        <p:spPr>
          <a:xfrm>
            <a:off x="6720840" y="466344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</a:rPr>
              <a:t>{a, b, c} están muy conectados entre sí; {d, e} se une al resto por una sola arista débil (0.3). </a:t>
            </a:r>
            <a:r>
              <a:rPr sz="1300" b="1" i="0">
                <a:solidFill>
                  <a:srgbClr val="0B6B3A"/>
                </a:solidFill>
              </a:rPr>
              <a:t>Esa diferencia es la que detectará la comunidad.</a:t>
            </a:r>
          </a:p>
        </p:txBody>
      </p:sp>
      <p:sp>
        <p:nvSpPr>
          <p:cNvPr id="916" name="Tarjeta en esta ponencia"/>
          <p:cNvSpPr/>
          <p:nvPr/>
        </p:nvSpPr>
        <p:spPr>
          <a:xfrm>
            <a:off x="548640" y="5669280"/>
            <a:ext cx="11064240" cy="475488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En esta ponencia"/>
          <p:cNvSpPr txBox="1"/>
          <p:nvPr/>
        </p:nvSpPr>
        <p:spPr>
          <a:xfrm>
            <a:off x="777240" y="5669280"/>
            <a:ext cx="10607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4F2E"/>
                </a:solidFill>
              </a:rPr>
              <a:t>En esta ponencia:  </a:t>
            </a:r>
            <a:r>
              <a:rPr sz="1400" b="0" i="0">
                <a:solidFill>
                  <a:srgbClr val="1F2933"/>
                </a:solidFill>
              </a:rPr>
              <a:t>V = 24 provincias  ·  E = pares de provincias con perfiles de abandono parecidos  ·  peso w = similitud ρ(u, v)</a:t>
            </a:r>
          </a:p>
        </p:txBody>
      </p:sp>
      <p:sp>
        <p:nvSpPr>
          <p:cNvPr id="918" name="Nota Euler"/>
          <p:cNvSpPr txBox="1"/>
          <p:nvPr/>
        </p:nvSpPr>
        <p:spPr>
          <a:xfrm>
            <a:off x="548640" y="6217920"/>
            <a:ext cx="11064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B6670"/>
                </a:solidFill>
              </a:rPr>
              <a:t>Origen: Euler (1736), el problema de los puentes de Königsberg.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CIUTM 2026 Barros">
  <a:themeElements>
    <a:clrScheme name="CCIUTM 2026 Barros">
      <a:dk1>
        <a:srgbClr val="1F2933"/>
      </a:dk1>
      <a:lt1>
        <a:srgbClr val="FFFFFF"/>
      </a:lt1>
      <a:dk2>
        <a:srgbClr val="0B4F2E"/>
      </a:dk2>
      <a:lt2>
        <a:srgbClr val="EEF5F0"/>
      </a:lt2>
      <a:accent1>
        <a:srgbClr val="1A9850"/>
      </a:accent1>
      <a:accent2>
        <a:srgbClr val="0B6B3A"/>
      </a:accent2>
      <a:accent3>
        <a:srgbClr val="FC8D62"/>
      </a:accent3>
      <a:accent4>
        <a:srgbClr val="66C2A5"/>
      </a:accent4>
      <a:accent5>
        <a:srgbClr val="8DA0CB"/>
      </a:accent5>
      <a:accent6>
        <a:srgbClr val="A6D854"/>
      </a:accent6>
      <a:hlink>
        <a:srgbClr val="0B6B3A"/>
      </a:hlink>
      <a:folHlink>
        <a:srgbClr val="6B7280"/>
      </a:folHlink>
    </a:clrScheme>
    <a:fontScheme name="CCIUTM 2026 Barro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1842</Words>
  <Application>Microsoft Office PowerPoint</Application>
  <PresentationFormat>Panorámica</PresentationFormat>
  <Paragraphs>187</Paragraphs>
  <Slides>14</Slides>
  <Notes>14</Notes>
  <HiddenSlides>0</HiddenSlides>
  <MMClips>5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CCIUTM 2026 Barros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Técnica de Manabí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grafos y algoritmo de Louvain para la detección de comunidades estructurales</dc:title>
  <dc:subject>PptxGenJS Presentation</dc:subject>
  <dc:creator>Jhon Ronald Barros Naranjo, Dimas Geovanny Vera Pisco</dc:creator>
  <cp:lastModifiedBy>Jhon Ronald Barros Naranjo</cp:lastModifiedBy>
  <cp:revision>2</cp:revision>
  <dcterms:created xsi:type="dcterms:W3CDTF">2026-10-18T14:26:34Z</dcterms:created>
  <dcterms:modified xsi:type="dcterms:W3CDTF">2026-10-19T14:08:46Z</dcterms:modified>
</cp:coreProperties>
</file>